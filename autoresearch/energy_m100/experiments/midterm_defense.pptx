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9.gif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gif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A6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xjtu_build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297680"/>
            <a:ext cx="12191695" cy="25603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4297680"/>
            <a:ext cx="12191695" cy="2560320"/>
          </a:xfrm>
          <a:prstGeom prst="rect">
            <a:avLst/>
          </a:prstGeom>
          <a:solidFill>
            <a:srgbClr val="0A2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xjtu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640080"/>
            <a:ext cx="2902289" cy="777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2194560"/>
            <a:ext cx="10515600" cy="17373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面向无人机能耗建模与能量感知路径规划的</a:t>
            </a:r>
          </a:p>
          <a:p>
            <a:pPr algn="l">
              <a:spcAft>
                <a:spcPts val="800"/>
              </a:spcAft>
            </a:pPr>
            <a:r>
              <a:rPr sz="4000" b="1">
                <a:solidFill>
                  <a:srgbClr val="8CC0FF"/>
                </a:solidFill>
                <a:latin typeface="微软雅黑"/>
                <a:ea typeface="微软雅黑"/>
                <a:cs typeface="微软雅黑"/>
              </a:rPr>
              <a:t>可信大模型自动化科研框架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105156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D6E4F7"/>
                </a:solidFill>
                <a:latin typeface="微软雅黑"/>
                <a:ea typeface="微软雅黑"/>
                <a:cs typeface="微软雅黑"/>
              </a:rPr>
              <a:t>A Trustworthy LLM-Agent Autoresearch Framework, Instantiated on UAV Energy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D6E4F7"/>
                </a:solidFill>
                <a:latin typeface="微软雅黑"/>
                <a:ea typeface="微软雅黑"/>
                <a:cs typeface="微软雅黑"/>
              </a:rPr>
              <a:t>Modeling and Energy-Aware Path Planning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10515600" cy="5486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西安交通大学　硕士学位论文·中期答辩　|　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研究场景:无人机能耗建模 + 能量感知路径规划</a:t>
            </a:r>
          </a:p>
        </p:txBody>
      </p:sp>
      <p:pic>
        <p:nvPicPr>
          <p:cNvPr id="5" name="Picture 4" descr="真机代价改变决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347322"/>
            <a:ext cx="6766560" cy="31691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06640" y="1828800"/>
            <a:ext cx="4480560" cy="43891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900"/>
              </a:spcAft>
            </a:pPr>
            <a:r>
              <a:rPr sz="17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能耗建模: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预测飞一段路耗多少电(速度/爬升/载荷→功率)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能量感知规划: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找最省电的路,不只最短(如图:绕墙比翻墙省电)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为什么选这个场景: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有真机数据(DJI M100,209 航班真实功率)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直接关系续航/配送里程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能耗与规划天然耦合,完整工程闭环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场景图:真机能耗代价让规划绕开爬升;数据 DJI M100 (Rodrigues 2021)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在这个场景上,我们要实现什么</a:t>
            </a:r>
          </a:p>
        </p:txBody>
      </p:sp>
      <p:sp>
        <p:nvSpPr>
          <p:cNvPr id="5" name="Oval 4"/>
          <p:cNvSpPr/>
          <p:nvPr/>
        </p:nvSpPr>
        <p:spPr>
          <a:xfrm>
            <a:off x="1097280" y="2194560"/>
            <a:ext cx="685800" cy="685800"/>
          </a:xfrm>
          <a:prstGeom prst="ellipse">
            <a:avLst/>
          </a:prstGeom>
          <a:solidFill>
            <a:srgbClr val="0563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2212848"/>
            <a:ext cx="320040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建能耗模型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0" y="2240280"/>
            <a:ext cx="612648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从真机 DJI M100 数据自动拟合出准确的能耗预测模型</a:t>
            </a:r>
          </a:p>
        </p:txBody>
      </p:sp>
      <p:sp>
        <p:nvSpPr>
          <p:cNvPr id="8" name="Oval 7"/>
          <p:cNvSpPr/>
          <p:nvPr/>
        </p:nvSpPr>
        <p:spPr>
          <a:xfrm>
            <a:off x="1097280" y="3429000"/>
            <a:ext cx="685800" cy="685800"/>
          </a:xfrm>
          <a:prstGeom prst="ellipse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94560" y="3447288"/>
            <a:ext cx="320040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接入路径规划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0" y="3474720"/>
            <a:ext cx="612648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把能耗模型当规划代价,让无人机飞更省电的路(避爬升)</a:t>
            </a:r>
          </a:p>
        </p:txBody>
      </p:sp>
      <p:sp>
        <p:nvSpPr>
          <p:cNvPr id="11" name="Oval 10"/>
          <p:cNvSpPr/>
          <p:nvPr/>
        </p:nvSpPr>
        <p:spPr>
          <a:xfrm>
            <a:off x="1097280" y="4663440"/>
            <a:ext cx="685800" cy="685800"/>
          </a:xfrm>
          <a:prstGeom prst="ellipse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94560" y="4681728"/>
            <a:ext cx="320040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用可信方法做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4709160"/>
            <a:ext cx="612648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全程用防作弊、防自欺的自动科研流程,并诚实刻画能力边界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三件事一条链:数据 → 能耗模型 → 规划省电,方法学贯穿全程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大模型自动科研正在爆发,但它的“发现”普遍不可信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5394960" cy="2926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9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57%</a:t>
            </a:r>
          </a:p>
          <a:p>
            <a:pPr algn="ctr">
              <a:spcAft>
                <a:spcPts val="600"/>
              </a:spcAft>
            </a:pPr>
            <a:r>
              <a:rPr sz="18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朴素 AI4S 手稿含错误或幻觉数值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828800"/>
            <a:ext cx="5486400" cy="3840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FunSearch/AlphaEvolve/Eureka 在数学、代码、RL 上确有新发现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但都要求“精确可验证评测器”——作者自认局限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朴素流程会过度声称(AI Scientist 独立评估):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C0502D"/>
                </a:solidFill>
                <a:latin typeface="微软雅黑"/>
                <a:ea typeface="微软雅黑"/>
                <a:cs typeface="微软雅黑"/>
              </a:rPr>
              <a:t>    42% 实验编码错误失败、57% 手稿含幻觉数值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C0502D"/>
                </a:solidFill>
                <a:latin typeface="微软雅黑"/>
                <a:ea typeface="微软雅黑"/>
                <a:cs typeface="微软雅黑"/>
              </a:rPr>
              <a:t>    把已发表 prior art 误判为“新颖”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来源:Beel, Kan &amp; Baumgart, ACM SIGIR Forum 2025(arXiv:2502.14297)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A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xjtu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365760"/>
            <a:ext cx="1707229" cy="4572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51560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研究问题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68880"/>
            <a:ext cx="10515600" cy="2743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400"/>
              </a:spcAft>
            </a:pPr>
            <a:r>
              <a:rPr sz="29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在一个真实、含噪、无干净真值的工程域(无人机能耗与规划),</a:t>
            </a:r>
          </a:p>
          <a:p>
            <a:pPr algn="l">
              <a:spcAft>
                <a:spcPts val="1400"/>
              </a:spcAft>
            </a:pPr>
            <a:r>
              <a:rPr sz="29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可信的自动科研框架能“得到什么”、又该“诚实承认什么”?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120640"/>
            <a:ext cx="105156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D6E4F7"/>
                </a:solidFill>
                <a:latin typeface="微软雅黑"/>
                <a:ea typeface="微软雅黑"/>
                <a:cs typeface="微软雅黑"/>
              </a:rPr>
              <a:t>核心主张:贡献不是新算法或新发现(均为 prior art),而是方法学 + 真机数据锚定 + 诚实能力边界。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框架总体结构:六个部分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10972800" cy="457200"/>
          </a:xfrm>
          <a:prstGeom prst="rect">
            <a:avLst/>
          </a:prstGeom>
          <a:solidFill>
            <a:srgbClr val="0563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56231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组成部分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1856231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角色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0" y="1856231"/>
            <a:ext cx="55778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说明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286000"/>
            <a:ext cx="10972800" cy="502920"/>
          </a:xfrm>
          <a:prstGeom prst="rect">
            <a:avLst/>
          </a:prstGeom>
          <a:solidFill>
            <a:srgbClr val="EEF4F7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359152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① 数据与评测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2359152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4472C4"/>
                </a:solidFill>
                <a:latin typeface="微软雅黑"/>
                <a:ea typeface="微软雅黑"/>
                <a:cs typeface="微软雅黑"/>
              </a:rPr>
              <a:t>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160" y="2359152"/>
            <a:ext cx="55778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以真机功率(P=V·I)为基准的防作弊评测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834640"/>
            <a:ext cx="109728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907792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② 自动科研框架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2907792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4472C4"/>
                </a:solidFill>
                <a:latin typeface="微软雅黑"/>
                <a:ea typeface="微软雅黑"/>
                <a:cs typeface="微软雅黑"/>
              </a:rPr>
              <a:t>核心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2160" y="2907792"/>
            <a:ext cx="55778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大模型闭环搜索:提议 → 评测 → 保留/回滚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383280"/>
            <a:ext cx="10972800" cy="502920"/>
          </a:xfrm>
          <a:prstGeom prst="rect">
            <a:avLst/>
          </a:prstGeom>
          <a:solidFill>
            <a:srgbClr val="EEF4F7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456432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③ 能耗模型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49039" y="3456432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4472C4"/>
                </a:solidFill>
                <a:latin typeface="微软雅黑"/>
                <a:ea typeface="微软雅黑"/>
                <a:cs typeface="微软雅黑"/>
              </a:rPr>
              <a:t>产物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52160" y="3456432"/>
            <a:ext cx="55778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从真机数据拟合的能耗预测模型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3931920"/>
            <a:ext cx="109728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4005072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④ 能量感知规划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49039" y="4005072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4472C4"/>
                </a:solidFill>
                <a:latin typeface="微软雅黑"/>
                <a:ea typeface="微软雅黑"/>
                <a:cs typeface="微软雅黑"/>
              </a:rPr>
              <a:t>应用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2160" y="4005072"/>
            <a:ext cx="55778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以能耗为代价,规划更省电的路径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480560"/>
            <a:ext cx="10972800" cy="502920"/>
          </a:xfrm>
          <a:prstGeom prst="rect">
            <a:avLst/>
          </a:prstGeom>
          <a:solidFill>
            <a:srgbClr val="EEF4F7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4553712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⑤ 动力学与真飞控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4553712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4472C4"/>
                </a:solidFill>
                <a:latin typeface="微软雅黑"/>
                <a:ea typeface="微软雅黑"/>
                <a:cs typeface="微软雅黑"/>
              </a:rPr>
              <a:t>验证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52160" y="4553712"/>
            <a:ext cx="55778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RotorPy 动力学 + PX4 真飞控栈验证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5029200"/>
            <a:ext cx="109728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5102352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⑥ 统计与防守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49039" y="5102352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4472C4"/>
                </a:solidFill>
                <a:latin typeface="微软雅黑"/>
                <a:ea typeface="微软雅黑"/>
                <a:cs typeface="微软雅黑"/>
              </a:rPr>
              <a:t>边界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52160" y="5102352"/>
            <a:ext cx="55778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统计检验 + 诚实刻画能力边界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5715000"/>
            <a:ext cx="1097280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其中 ② 的可信性由五道安全机制保证: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冻结评测器 · keep/revert · 强制查新门 · 因果消融 · 交叉模型+诚实报负结果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框架架构:五节点闭环 + 外搜逃逸支路</a:t>
            </a:r>
          </a:p>
        </p:txBody>
      </p:sp>
      <p:pic>
        <p:nvPicPr>
          <p:cNvPr id="6" name="Picture 5" descr="框架架构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35783"/>
            <a:ext cx="10881360" cy="399227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LLM 提议→Harness 实验→冻结评测器→keep/revert 闭环;撞瓶颈触发外搜;知识库持久化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过程即贡献:loop 撞瓶颈→触发外搜→改向→诚实记录(真实迭代)</a:t>
            </a:r>
          </a:p>
        </p:txBody>
      </p:sp>
      <p:pic>
        <p:nvPicPr>
          <p:cNvPr id="6" name="Picture 5" descr="loop_proc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656971"/>
            <a:ext cx="6949440" cy="2458457"/>
          </a:xfrm>
          <a:prstGeom prst="rect">
            <a:avLst/>
          </a:prstGeom>
        </p:spPr>
      </p:pic>
      <p:pic>
        <p:nvPicPr>
          <p:cNvPr id="7" name="Picture 6" descr="loop流程图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8515" y="1737360"/>
            <a:ext cx="3448250" cy="44805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左:真实迭代轨迹(卡4.24%→外搜→突破1.9%);右:loop 机制流程。数据 agent_log.jsonl + KNOWLEDGE.md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autoresearch 如何突破阈值:局部搜索卡壳→外搜识别方向→一步突破</a:t>
            </a:r>
          </a:p>
        </p:txBody>
      </p:sp>
      <p:pic>
        <p:nvPicPr>
          <p:cNvPr id="6" name="Picture 5" descr="突破阈值叙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3497" y="1737360"/>
            <a:ext cx="8774525" cy="4206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6.88% → 卡 4.2%(7变体全卡)→ 外搜识别'加线性payload' → 1.9%。突破来自框架的外搜环节,非更花哨的模型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从真机数据自动建模:能耗预测误差降 73%(6.88% → 1.86%)</a:t>
            </a:r>
          </a:p>
        </p:txBody>
      </p:sp>
      <p:pic>
        <p:nvPicPr>
          <p:cNvPr id="6" name="Picture 5" descr="fig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755861"/>
            <a:ext cx="6949440" cy="235211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589520" y="1920240"/>
            <a:ext cx="4297680" cy="4206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冻结评测器 + LLM 每轮改一次能耗公式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iter1–10 全程留出验证 + 保留/回滚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· 误差 6.88% → 1.86%(相对提升约 73%)</a:t>
            </a:r>
          </a:p>
          <a:p>
            <a:pPr algn="l">
              <a:spcAft>
                <a:spcPts val="800"/>
              </a:spcAft>
            </a:pPr>
            <a:r>
              <a:rPr sz="8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ARE = |预测能量 − 真实能量| / 真实能量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在“未参与训练的飞行”上取平均(防背答案)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能量真值 = 机载电压 × 电流积分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数据:真实 DJI M100(209 航班);评测器 m100_eval.py 冻结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真机验证的能耗代价改变规划决策:避开真实存在的爬升能耗</a:t>
            </a:r>
          </a:p>
        </p:txBody>
      </p:sp>
      <p:pic>
        <p:nvPicPr>
          <p:cNvPr id="6" name="Picture 5" descr="真机代价改变决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146" y="1828800"/>
            <a:ext cx="6637948" cy="3108960"/>
          </a:xfrm>
          <a:prstGeom prst="rect">
            <a:avLst/>
          </a:prstGeom>
        </p:spPr>
      </p:pic>
      <p:pic>
        <p:nvPicPr>
          <p:cNvPr id="7" name="Picture 6" descr="video_corrido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1715" y="5029200"/>
            <a:ext cx="3300090" cy="1371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503920" y="1920240"/>
            <a:ext cx="3291840" cy="4206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距离/教科书BEMT → 翻墙</a:t>
            </a:r>
          </a:p>
          <a:p>
            <a:pPr algn="l">
              <a:spcAft>
                <a:spcPts val="1000"/>
              </a:spcAft>
            </a:pPr>
            <a:r>
              <a:rPr sz="16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· 真机M100 → 绕行,省 5–13%</a:t>
            </a:r>
          </a:p>
          <a:p>
            <a:pPr algn="l">
              <a:spcAft>
                <a:spcPts val="10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机制三重验证: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留出爬升 +114W vs 预测 +108W(&lt;5%)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因果消融:挖爬升项→退回翻墙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下方 GIF:城市走廊逐障碍混合决策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效应属 prior art(EcoFlight 2025);区别 = 真机验证代价 + 可信评测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结论过 RotorPy 动力学与 PX4 真飞控固件栈仍成立(省 14.3%)</a:t>
            </a:r>
          </a:p>
        </p:txBody>
      </p:sp>
      <p:pic>
        <p:nvPicPr>
          <p:cNvPr id="6" name="Picture 5" descr="PX4真飞控_AB对比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6487" y="1828800"/>
            <a:ext cx="6933825" cy="3108960"/>
          </a:xfrm>
          <a:prstGeom prst="rect">
            <a:avLst/>
          </a:prstGeom>
        </p:spPr>
      </p:pic>
      <p:pic>
        <p:nvPicPr>
          <p:cNvPr id="7" name="Picture 6" descr="px4_flight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8680" y="5029200"/>
            <a:ext cx="3169039" cy="1371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412480" y="1920240"/>
            <a:ext cx="3383280" cy="4206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证据链层层加固: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折线预测 4–22%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RotorPy 动力学 6.1%</a:t>
            </a:r>
          </a:p>
          <a:p>
            <a:pPr algn="l">
              <a:spcAft>
                <a:spcPts val="1000"/>
              </a:spcAft>
            </a:pPr>
            <a:r>
              <a:rPr sz="18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· PX4 真飞控栈 14.3%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(EKF + 位置环 + Gazebo 动力学)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下方 GIF:PX4 真飞控飞出的轨迹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PX4 SITL + Gazebo Harmonic;同固件栈同脚本 A/B 对比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566928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框架每个节点都“承重”:去掉它,loop 就退化或自欺</a:t>
            </a:r>
          </a:p>
        </p:txBody>
      </p:sp>
      <p:pic>
        <p:nvPicPr>
          <p:cNvPr id="6" name="Picture 5" descr="框架消融_局部最优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230429"/>
            <a:ext cx="6583680" cy="3402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223760" y="1828800"/>
            <a:ext cx="4572000" cy="43891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消融每个节点 → 去掉会怎样: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评测器→只报训练误差:探针可刷分</a:t>
            </a:r>
          </a:p>
          <a:p>
            <a:pPr algn="l">
              <a:spcAft>
                <a:spcPts val="800"/>
              </a:spcAft>
            </a:pPr>
            <a:r>
              <a:rPr sz="1400" b="1">
                <a:solidFill>
                  <a:srgbClr val="C0502D"/>
                </a:solidFill>
                <a:latin typeface="微软雅黑"/>
                <a:ea typeface="微软雅黑"/>
                <a:cs typeface="微软雅黑"/>
              </a:rPr>
              <a:t>· 外搜→只搜物理形:困 4.2% 盆地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查新门→H1/H3 当发现(实为 prior art)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因果消融→证不了爬升是唯一因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交叉模型→循环(BEMT尺下反贵)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报负结果→漏 loop≈随机/载荷死路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左图:只搜物理形困局部最优,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外搜识别加线性payload才突破1.9%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framework_ablation.py / safeguard_ablation.py(每节点一个可复现消融)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566928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性能上限由数据决定:留出误差 6 项处触底,加到 52 项不再降</a:t>
            </a:r>
          </a:p>
        </p:txBody>
      </p:sp>
      <p:pic>
        <p:nvPicPr>
          <p:cNvPr id="6" name="Picture 5" descr="噪声地板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6341" y="1828800"/>
            <a:ext cx="5056998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95360" y="1920240"/>
            <a:ext cx="3200400" cy="4206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held-out 6 项即触底 1.88%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加到 12/20/52 项不降反升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· 4 种方法殊途同归 ~1.9%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运动学只解释 &lt;40% 瞬时功率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“数据封顶”从主张变测量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domain_value.py;对标 Tseng 多项式(数据集既定最优)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566928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为什么封顶:真机功率剧烈波动,当前输入只能解释约四成</a:t>
            </a:r>
          </a:p>
        </p:txBody>
      </p:sp>
      <p:pic>
        <p:nvPicPr>
          <p:cNvPr id="6" name="Picture 5" descr="仿真vs真机波动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405250"/>
            <a:ext cx="7132320" cy="268757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0" y="1920240"/>
            <a:ext cx="4114800" cy="4206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1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模型输出平滑,真机实测剧烈波动</a:t>
            </a:r>
          </a:p>
          <a:p>
            <a:pPr algn="l">
              <a:spcAft>
                <a:spcPts val="11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真机功率变异系数 ≈0.20(50–950W)</a:t>
            </a:r>
          </a:p>
          <a:p>
            <a:pPr algn="l">
              <a:spcAft>
                <a:spcPts val="11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运动学只解释 ~40%</a:t>
            </a:r>
          </a:p>
          <a:p>
            <a:pPr algn="l">
              <a:spcAft>
                <a:spcPts val="1100"/>
              </a:spcAft>
            </a:pPr>
            <a:r>
              <a:rPr sz="1500" b="1">
                <a:solidFill>
                  <a:srgbClr val="C0502D"/>
                </a:solidFill>
                <a:latin typeface="微软雅黑"/>
                <a:ea typeface="微软雅黑"/>
                <a:cs typeface="微软雅黑"/>
              </a:rPr>
              <a:t>· 其余 ~60% 无法由当前输入解释</a:t>
            </a:r>
          </a:p>
          <a:p>
            <a:pPr algn="l">
              <a:spcAft>
                <a:spcPts val="1100"/>
              </a:spcAft>
            </a:pPr>
            <a:r>
              <a:rPr sz="14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  (具体来源待归因)</a:t>
            </a:r>
          </a:p>
          <a:p>
            <a:pPr algn="l">
              <a:spcAft>
                <a:spcPts val="1100"/>
              </a:spcAft>
            </a:pPr>
            <a:r>
              <a:rPr sz="15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→ 改追每趟能量 ARE(积分抹平波动)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真机 DJI M100 实测功率(V×I);左=模型预测(平滑),右=真机片段(波动)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566928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同框架:有改进空间的域显著胜随机,噪声封顶的域统计打平</a:t>
            </a:r>
          </a:p>
        </p:txBody>
      </p:sp>
      <p:pic>
        <p:nvPicPr>
          <p:cNvPr id="6" name="Picture 5" descr="两域显著性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527503"/>
            <a:ext cx="5760720" cy="299171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309360" y="1920240"/>
            <a:ext cx="5486400" cy="43891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能耗域(封顶):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  loop 1.86% vs 随机 1.87±0.03,z=−0.35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  52% 随机更好 → 统计打平</a:t>
            </a:r>
          </a:p>
          <a:p>
            <a:pPr algn="l">
              <a:spcAft>
                <a:spcPts val="1200"/>
              </a:spcAft>
            </a:pPr>
            <a:r>
              <a:rPr sz="17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规划器域(有改进空间):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  loop 显著低于随机,z=−2.38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  0% 随机更好 → 显著胜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→ 优势取决于搜索空间复杂度:小空间相当,大空间显著胜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significance_test.py / planner_significance.py(随机分布 + z 检验)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566928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为什么打平?引导搜索的优势随搜索空间复杂度增长(文献规律)</a:t>
            </a:r>
          </a:p>
        </p:txBody>
      </p:sp>
      <p:pic>
        <p:nvPicPr>
          <p:cNvPr id="6" name="Picture 5" descr="复杂度规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95384"/>
            <a:ext cx="6766560" cy="36730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06640" y="1920240"/>
            <a:ext cx="4480560" cy="43891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9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引导搜索优势随空间复杂度增长: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Bergstra'12:低有效维→随机追平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REMBO:~15–20 维临界点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FunSearch:巨大程序空间→引导才行</a:t>
            </a:r>
          </a:p>
          <a:p>
            <a:pPr algn="l">
              <a:spcAft>
                <a:spcPts val="900"/>
              </a:spcAft>
            </a:pPr>
            <a:r>
              <a:rPr sz="1500" b="1">
                <a:solidFill>
                  <a:srgbClr val="C0502D"/>
                </a:solidFill>
                <a:latin typeface="微软雅黑"/>
                <a:ea typeface="微软雅黑"/>
                <a:cs typeface="微软雅黑"/>
              </a:rPr>
              <a:t>· 我们能耗域(小)→打平</a:t>
            </a:r>
          </a:p>
          <a:p>
            <a:pPr algn="l">
              <a:spcAft>
                <a:spcPts val="900"/>
              </a:spcAft>
            </a:pPr>
            <a:r>
              <a:rPr sz="15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· 我们规划器域(大)→胜 27%</a:t>
            </a:r>
          </a:p>
          <a:p>
            <a:pPr algn="l">
              <a:spcAft>
                <a:spcPts val="900"/>
              </a:spcAft>
            </a:pPr>
            <a:r>
              <a:rPr sz="15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→ 同框架横跨两端点,亲手印证规律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规律=文献综合;两端点=我们实测。CMU《Hidden Pitfalls》2509.08713 反证可信性为刚需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566928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用 vs 不用:朴素 AI4S 声称 4 项假发现且藏负结果,我们相反</a:t>
            </a:r>
          </a:p>
        </p:txBody>
      </p:sp>
      <p:pic>
        <p:nvPicPr>
          <p:cNvPr id="6" name="Picture 5" descr="naive_vs_trustworth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26234"/>
            <a:ext cx="8412480" cy="30284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0" y="2011680"/>
            <a:ext cx="2651760" cy="40233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1">
                <a:solidFill>
                  <a:srgbClr val="C0502D"/>
                </a:solidFill>
                <a:latin typeface="微软雅黑"/>
                <a:ea typeface="微软雅黑"/>
                <a:cs typeface="微软雅黑"/>
              </a:rPr>
              <a:t>朴素: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4 假发现 + 0 负结果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我们: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0 真新 + 4 负结果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一个自信但错,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一个 humbler 但对。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naive_vs_trustworthy.py(同数据同候选,端到端产出对照)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566928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诚实边界:多数场景无收益,载荷无效,贡献是方法学而非发现</a:t>
            </a:r>
          </a:p>
        </p:txBody>
      </p:sp>
      <p:pic>
        <p:nvPicPr>
          <p:cNvPr id="6" name="Picture 5" descr="省能分布_n2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672" y="1828800"/>
            <a:ext cx="6829936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80960" y="1920240"/>
            <a:ext cx="4114800" cy="4206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1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n=250 场景:中位省能 0%</a:t>
            </a:r>
          </a:p>
          <a:p>
            <a:pPr algn="l">
              <a:spcAft>
                <a:spcPts val="11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77% 场景零收益(有低空走廊)</a:t>
            </a:r>
          </a:p>
          <a:p>
            <a:pPr algn="l">
              <a:spcAft>
                <a:spcPts val="11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仅 20% ≥3%,CI[15.5,25.4]%</a:t>
            </a:r>
          </a:p>
          <a:p>
            <a:pPr algn="l">
              <a:spcAft>
                <a:spcPts val="11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载荷 ≤500g:全扫不改变路径</a:t>
            </a:r>
          </a:p>
          <a:p>
            <a:pPr algn="l">
              <a:spcAft>
                <a:spcPts val="11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无真机飞行(止于仿真)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→ 不挑场景、不硬凑,诚实统计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large_scale_savings.py;可信 null 是被接受的贡献(ICML 2024)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A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xjtu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365760"/>
            <a:ext cx="1707229" cy="4572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365760"/>
            <a:ext cx="566928" cy="457200"/>
          </a:xfrm>
          <a:prstGeom prst="round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188720"/>
            <a:ext cx="1051560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结论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10698480" cy="40233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600"/>
              </a:spcAft>
            </a:pPr>
            <a:r>
              <a:rPr sz="2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① 不声称新算法/新效应——三次查新确认均为 prior art,主动引用</a:t>
            </a:r>
          </a:p>
          <a:p>
            <a:pPr algn="l">
              <a:spcAft>
                <a:spcPts val="1600"/>
              </a:spcAft>
            </a:pPr>
            <a:r>
              <a:rPr sz="21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② 贡献 = 可信自动科研方法学 + 真机数据锚定 + 诚实能力边界</a:t>
            </a:r>
          </a:p>
          <a:p>
            <a:pPr algn="l">
              <a:spcAft>
                <a:spcPts val="1600"/>
              </a:spcAft>
            </a:pPr>
            <a:r>
              <a:rPr sz="2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③ 逐个消融证明每道节点“承重”:去掉即退化/overclaim</a:t>
            </a:r>
          </a:p>
          <a:p>
            <a:pPr algn="l">
              <a:spcAft>
                <a:spcPts val="1600"/>
              </a:spcAft>
            </a:pPr>
            <a:r>
              <a:rPr sz="2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④ 价值 = 在该 overclaim 处不 overclaim,并量化能力边界</a:t>
            </a:r>
          </a:p>
          <a:p>
            <a:pPr algn="l">
              <a:spcAft>
                <a:spcPts val="1600"/>
              </a:spcAft>
            </a:pPr>
            <a:r>
              <a:rPr sz="2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⑤ 搜索空间大则显著胜随机,空间小(已封顶)则与随机相当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566928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参考文献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10972800" cy="43891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Romera-Paredes et al. FunSearch. Nature 2023.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Novikov et al. AlphaEvolve. DeepMind 2025.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Ma et al. Eureka. ICLR 2024. arXiv:2310.12931.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Beel, Kan &amp; Baumgart. AI Scientist 独立评估. ACM SIGIR Forum 2025. arXiv:2502.14297.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Michel et al. Energy-Optimal Waypoint UAV Missions. 2024. arXiv:2410.17585.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Nguyen &amp; Au. Extending drone delivery reachable set. AAMAS 2017.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Karl et al. Position: Embracing Negative Results in ML. ICML 2024.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Rodrigues et al. DJI M100 energy dataset. Scientific Data 2021.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Di Franco &amp; Buttazzo 2015;Liu 2017;EcoFlight 2025.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附录 A:累加消融阶梯(框架每步都承重)</a:t>
            </a:r>
          </a:p>
        </p:txBody>
      </p:sp>
      <p:pic>
        <p:nvPicPr>
          <p:cNvPr id="5" name="Picture 4" descr="消融阶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4202" y="1737360"/>
            <a:ext cx="8333116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逐步加回安全机制:假发现 3→0(左),报告数字保持诚实不虚低(右)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附录 A2:翻越/绕行能量权衡分解</a:t>
            </a:r>
          </a:p>
        </p:txBody>
      </p:sp>
      <p:pic>
        <p:nvPicPr>
          <p:cNvPr id="5" name="Picture 4" descr="翻越绕行权衡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6732" y="1737360"/>
            <a:ext cx="7008055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翻越=固定爬升罚+少走距离,绕行=无爬升+多走距离,交叉≈半宽24m=相图边界物理解释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附录 B:操作包络相图</a:t>
            </a:r>
          </a:p>
        </p:txBody>
      </p:sp>
      <p:pic>
        <p:nvPicPr>
          <p:cNvPr id="5" name="Picture 4" descr="操作包络相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9562" y="1737360"/>
            <a:ext cx="6982395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高速+窄障省 22%,低速/宽障归零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附录 C:安全机制消融(评测器抗 gaming)</a:t>
            </a:r>
          </a:p>
        </p:txBody>
      </p:sp>
      <p:pic>
        <p:nvPicPr>
          <p:cNvPr id="5" name="Picture 4" descr="safeguard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506599"/>
            <a:ext cx="10698480" cy="294208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过拟合探针刷不动;查新门降级 2/3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附录 D:动力学实飞功率剖面</a:t>
            </a:r>
          </a:p>
        </p:txBody>
      </p:sp>
      <p:pic>
        <p:nvPicPr>
          <p:cNvPr id="5" name="Picture 4" descr="sim_f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573464"/>
            <a:ext cx="10698480" cy="280835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翻墙爬升段飙 870W,绕行平稳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附录 E:PX4 真飞控轨迹(俯视/侧视)</a:t>
            </a:r>
          </a:p>
        </p:txBody>
      </p:sp>
      <p:pic>
        <p:nvPicPr>
          <p:cNvPr id="5" name="Picture 4" descr="px4_tra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127626"/>
            <a:ext cx="10698480" cy="37000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翻矮楼 A + 绕高楼 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