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gif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gif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737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面向无人机能耗建模与能量感知路径规划的</a:t>
            </a:r>
          </a:p>
          <a:p>
            <a:pPr algn="l">
              <a:spcAft>
                <a:spcPts val="800"/>
              </a:spcAft>
            </a:pPr>
            <a:r>
              <a:rPr sz="4000" b="1">
                <a:solidFill>
                  <a:srgbClr val="02C39A"/>
                </a:solidFill>
                <a:latin typeface="微软雅黑"/>
                <a:ea typeface="微软雅黑"/>
                <a:cs typeface="微软雅黑"/>
              </a:rPr>
              <a:t>可信大模型自动化科研框架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023360"/>
            <a:ext cx="1051560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CADCFC"/>
                </a:solidFill>
                <a:latin typeface="微软雅黑"/>
                <a:ea typeface="微软雅黑"/>
                <a:cs typeface="微软雅黑"/>
              </a:rPr>
              <a:t>A Trustworthy LLM-Agent Autoresearch Framework, Instantiated on UAV Energy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CADCFC"/>
                </a:solidFill>
                <a:latin typeface="微软雅黑"/>
                <a:ea typeface="微软雅黑"/>
                <a:cs typeface="微软雅黑"/>
              </a:rPr>
              <a:t>Modeling and Energy-Aware Path Planning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69280"/>
            <a:ext cx="105156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硕士学位论文·中期答辩　|　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大模型自动科研正在爆发,但它的“发现”普遍不可信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840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FunSearch / AlphaEvolve / Eureka 在数学、代码、RL 上确有新发现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但它们结构上都要求“精确可验证评测器”——作者自认局限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朴素流程会过度声称:AI Scientist 独立评估——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B83A3A"/>
                </a:solidFill>
                <a:latin typeface="微软雅黑"/>
                <a:ea typeface="微软雅黑"/>
                <a:cs typeface="微软雅黑"/>
              </a:rPr>
              <a:t>    42% 实验编码错误失败、57% 手稿含幻觉数值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B83A3A"/>
                </a:solidFill>
                <a:latin typeface="微软雅黑"/>
                <a:ea typeface="微软雅黑"/>
                <a:cs typeface="微软雅黑"/>
              </a:rPr>
              <a:t>    把已发表 prior art 误判为“新颖”(关键词匹配)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5394960" cy="2926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96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57%</a:t>
            </a:r>
          </a:p>
          <a:p>
            <a:pPr algn="ctr">
              <a:spcAft>
                <a:spcPts val="600"/>
              </a:spcAft>
            </a:pPr>
            <a:r>
              <a:rPr sz="18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朴素 AI4S 手稿含错误或幻觉数值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来源:Beel, Kan &amp; Baumgart, ACM SIGIR Forum 2025(arXiv:2502.14297)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2C39A"/>
                </a:solidFill>
                <a:latin typeface="微软雅黑"/>
                <a:ea typeface="微软雅黑"/>
                <a:cs typeface="微软雅黑"/>
              </a:rPr>
              <a:t>研究问题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15600" cy="2743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400"/>
              </a:spcAft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在一个真实、含噪、无干净真值的工程域(无人机能耗与规划),</a:t>
            </a:r>
          </a:p>
          <a:p>
            <a:pPr algn="l">
              <a:spcAft>
                <a:spcPts val="1400"/>
              </a:spcAft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可信的自动科研框架能“得到什么”、又该“诚实承认什么”?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120640"/>
            <a:ext cx="105156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CADCFC"/>
                </a:solidFill>
                <a:latin typeface="微软雅黑"/>
                <a:ea typeface="微软雅黑"/>
                <a:cs typeface="微软雅黑"/>
              </a:rPr>
              <a:t>核心主张:贡献不是新算法或新发现(均为 prior art),而是方法学 + 真机数据锚定 + 诚实能力边界。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我们把“可信性”工程化为五道相互独立的安全机制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502920" cy="502920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947672"/>
            <a:ext cx="31089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冻结评测器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984248"/>
            <a:ext cx="704088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锚定真机功率 P=V·|I|,按航班留出,永不可编辑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07208"/>
            <a:ext cx="502920" cy="502920"/>
          </a:xfrm>
          <a:prstGeom prst="round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788920"/>
            <a:ext cx="31089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keep / revert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825496"/>
            <a:ext cx="704088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仅当搜索降且留出不显著退才接受,防过拟合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648456"/>
            <a:ext cx="502920" cy="502920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630168"/>
            <a:ext cx="31089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强制查新门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3666744"/>
            <a:ext cx="704088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任何“发现”须先过文献查新,否则降级为复现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89704"/>
            <a:ext cx="502920" cy="502920"/>
          </a:xfrm>
          <a:prstGeom prst="round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471416"/>
            <a:ext cx="31089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因果消融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4507992"/>
            <a:ext cx="704088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挖掉关键项验证机制归因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330952"/>
            <a:ext cx="502920" cy="502920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5312664"/>
            <a:ext cx="31089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交叉模型 + 诚实报负结果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5349240"/>
            <a:ext cx="704088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暴露评测循环性,系统记录失败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能耗模型自动迭代把留出误差从 6.88% 降到 1.86%——但这不是重点</a:t>
            </a:r>
          </a:p>
        </p:txBody>
      </p:sp>
      <p:pic>
        <p:nvPicPr>
          <p:cNvPr id="5" name="Picture 4" descr="fig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755861"/>
            <a:ext cx="6949440" cy="235211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0" y="1920240"/>
            <a:ext cx="4023360" cy="4023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冻结评测器 + LLM 每轮改一次 featurize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iter1–10 全程留出验证 + keep/revert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相对提升约 73%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B83A3A"/>
                </a:solidFill>
                <a:latin typeface="微软雅黑"/>
                <a:ea typeface="微软雅黑"/>
                <a:cs typeface="微软雅黑"/>
              </a:rPr>
              <a:t>· 但——结构搜索与随机搜索打平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  (见第 8 页,能力边界)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冻结评测器 m100_eval.py;数据:真实 DJI M100(Rodrigues 2021,209 航班)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真机验证的能耗代价改变规划决策:避开真实存在的爬升能耗</a:t>
            </a:r>
          </a:p>
        </p:txBody>
      </p:sp>
      <p:pic>
        <p:nvPicPr>
          <p:cNvPr id="5" name="Picture 4" descr="hero_fig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338864"/>
            <a:ext cx="7772400" cy="2088832"/>
          </a:xfrm>
          <a:prstGeom prst="rect">
            <a:avLst/>
          </a:prstGeom>
        </p:spPr>
      </p:pic>
      <p:pic>
        <p:nvPicPr>
          <p:cNvPr id="6" name="Picture 5" descr="video_corrido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715" y="5029200"/>
            <a:ext cx="3300090" cy="1371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03920" y="1920240"/>
            <a:ext cx="329184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距离/教科书BEMT → 翻墙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02C39A"/>
                </a:solidFill>
                <a:latin typeface="微软雅黑"/>
                <a:ea typeface="微软雅黑"/>
                <a:cs typeface="微软雅黑"/>
              </a:rPr>
              <a:t>· 真机M100 → 绕行,省 5–13%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机制三重验证: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留出爬升 +114W vs 预测 +108W(&lt;5%)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因果消融:挖爬升项→决策退回翻墙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下方 GIF:城市走廊逐障碍混合决策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效应属 prior art(EcoFlight 2025);我们的区别 = 真机验证代价 + 可信评测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结论过 RotorPy 动力学与 PX4 真飞控固件栈仍成立(省 14.3%)</a:t>
            </a:r>
          </a:p>
        </p:txBody>
      </p:sp>
      <p:pic>
        <p:nvPicPr>
          <p:cNvPr id="5" name="Picture 4" descr="px4_ab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327148"/>
            <a:ext cx="7680960" cy="2112264"/>
          </a:xfrm>
          <a:prstGeom prst="rect">
            <a:avLst/>
          </a:prstGeom>
        </p:spPr>
      </p:pic>
      <p:pic>
        <p:nvPicPr>
          <p:cNvPr id="6" name="Picture 5" descr="px4_flight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8680" y="5029200"/>
            <a:ext cx="3169039" cy="1371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12480" y="1920240"/>
            <a:ext cx="338328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证据链层层加固: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折线预测 4–22%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RotorPy 动力学 6.1%</a:t>
            </a:r>
          </a:p>
          <a:p>
            <a:pPr algn="l">
              <a:spcAft>
                <a:spcPts val="1000"/>
              </a:spcAft>
            </a:pPr>
            <a:r>
              <a:rPr sz="18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· PX4 真飞控栈 14.3%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(EKF + 位置环 + Gazebo 动力学)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下方 GIF:PX4 真飞控飞出的轨迹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PX4 SITL + Gazebo Harmonic;同固件栈同脚本 A/B 对比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但这些“效应”经三次文献查新,全部是已发表的 prior 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11680"/>
            <a:ext cx="10972800" cy="658368"/>
          </a:xfrm>
          <a:prstGeom prst="rect">
            <a:avLst/>
          </a:prstGeom>
          <a:solidFill>
            <a:srgbClr val="EEF4F7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30552"/>
            <a:ext cx="6035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能量感知规划改变路径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0" y="2130552"/>
            <a:ext cx="44805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EcoFlight (2025)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743200"/>
            <a:ext cx="109728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862072"/>
            <a:ext cx="6035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配送顺序因爬降不对称翻转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0" y="2862072"/>
            <a:ext cx="44805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Michel et al. 2024, arXiv 2410.17585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474720"/>
            <a:ext cx="10972800" cy="658368"/>
          </a:xfrm>
          <a:prstGeom prst="rect">
            <a:avLst/>
          </a:prstGeom>
          <a:solidFill>
            <a:srgbClr val="EEF4F7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593592"/>
            <a:ext cx="6035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电池约束下可达集扩大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3593592"/>
            <a:ext cx="44805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Nguyen &amp; Au, AAMAS 2017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206240"/>
            <a:ext cx="109728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325112"/>
            <a:ext cx="6035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载荷影响爬升 vs 绕行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4325112"/>
            <a:ext cx="44805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EcoFlight / 物流 UAV, Drones 2025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937760"/>
            <a:ext cx="10972800" cy="658368"/>
          </a:xfrm>
          <a:prstGeom prst="rect">
            <a:avLst/>
          </a:prstGeom>
          <a:solidFill>
            <a:srgbClr val="EEF4F7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056632"/>
            <a:ext cx="6035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M100 能耗建模 / v* / 爬降不对称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5056632"/>
            <a:ext cx="44805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Dai;Di Franco 2015;Liu 2017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943600"/>
            <a:ext cx="109728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B83A3A"/>
                </a:solidFill>
                <a:latin typeface="微软雅黑"/>
                <a:ea typeface="微软雅黑"/>
                <a:cs typeface="微软雅黑"/>
              </a:rPr>
              <a:t>→ 我们主动引用、不声称首创。查新门拦住了把“复现”当“发现”。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性能被数据噪声封顶:52 项模型也压不下 6 项——不是方法不足</a:t>
            </a:r>
          </a:p>
        </p:txBody>
      </p:sp>
      <p:pic>
        <p:nvPicPr>
          <p:cNvPr id="5" name="Picture 4" descr="domain_va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481943"/>
            <a:ext cx="7863840" cy="280851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95360" y="1920240"/>
            <a:ext cx="320040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held-out ARE 6 项即触底 1.88%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加到 12/20/52 项不降反升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02C39A"/>
                </a:solidFill>
                <a:latin typeface="微软雅黑"/>
                <a:ea typeface="微软雅黑"/>
                <a:cs typeface="微软雅黑"/>
              </a:rPr>
              <a:t>· 4 种方法殊途同归 ~1.9%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运动学只解释 &lt;40% 瞬时功率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“数据封顶”从主张变测量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domain_value.py;对标 Tseng 多项式回归(数据集既定最优)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同框架:有改进空间的域显著胜随机,噪声封顶的域统计打平</a:t>
            </a:r>
          </a:p>
        </p:txBody>
      </p:sp>
      <p:pic>
        <p:nvPicPr>
          <p:cNvPr id="5" name="Picture 4" descr="significance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16870"/>
            <a:ext cx="5623560" cy="2841377"/>
          </a:xfrm>
          <a:prstGeom prst="rect">
            <a:avLst/>
          </a:prstGeom>
        </p:spPr>
      </p:pic>
      <p:pic>
        <p:nvPicPr>
          <p:cNvPr id="6" name="Picture 5" descr="planner_signific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9717" y="4846320"/>
            <a:ext cx="3438525" cy="1737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09360" y="1920240"/>
            <a:ext cx="5486400" cy="4389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能耗域(封顶):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  loop 1.86% vs 随机 1.87±0.03%,z=−0.35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  52% 随机更好 → 统计打平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规划器域(有 headroom):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02C39A"/>
                </a:solidFill>
                <a:latin typeface="微软雅黑"/>
                <a:ea typeface="微软雅黑"/>
                <a:cs typeface="微软雅黑"/>
              </a:rPr>
              <a:t>  loop 显著低于随机分布,z=−2.38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  0% 随机更好 → 显著胜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→ null 由域性质决定,非框架失败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significance_test.py / planner_significance.py(随机搜索分布,z 检验)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用 vs 不用:朴素 AI4S 声称 4 项假发现且藏负结果,我们相反</a:t>
            </a:r>
          </a:p>
        </p:txBody>
      </p:sp>
      <p:pic>
        <p:nvPicPr>
          <p:cNvPr id="5" name="Picture 4" descr="naive_vs_trustworth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26234"/>
            <a:ext cx="8412480" cy="30284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0" y="2011680"/>
            <a:ext cx="2651760" cy="4023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>
                <a:solidFill>
                  <a:srgbClr val="B83A3A"/>
                </a:solidFill>
                <a:latin typeface="微软雅黑"/>
                <a:ea typeface="微软雅黑"/>
                <a:cs typeface="微软雅黑"/>
              </a:rPr>
              <a:t>朴素: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4 假发现 + 0 负结果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02C39A"/>
                </a:solidFill>
                <a:latin typeface="微软雅黑"/>
                <a:ea typeface="微软雅黑"/>
                <a:cs typeface="微软雅黑"/>
              </a:rPr>
              <a:t>我们: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0 真新 + 4 负结果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一个自信但错,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一个 humbler 但对。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naive_vs_trustworthy.py(同数据同候选,端到端产出对照)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诚实边界:多数场景无收益,载荷无效,贡献是方法学而非发现</a:t>
            </a:r>
          </a:p>
        </p:txBody>
      </p:sp>
      <p:pic>
        <p:nvPicPr>
          <p:cNvPr id="5" name="Picture 4" descr="large_scale_sav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10232"/>
            <a:ext cx="6949440" cy="35519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80960" y="1920240"/>
            <a:ext cx="411480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1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n=250 场景:中位省能 0%</a:t>
            </a: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77% 场景零收益(有低空走廊)</a:t>
            </a: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仅 20% ≥3%,CI[15.5,25.4]%</a:t>
            </a: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载荷 ≤500g:全扫不改变路径(死路)</a:t>
            </a: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无真机飞行(止于仿真)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→ 不挑场景、不硬凑,诚实统计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large_scale_savings.py(250 随机城市场景);可信 null 是被接受的贡献(ICML 2024)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02C39A"/>
                </a:solidFill>
                <a:latin typeface="微软雅黑"/>
                <a:ea typeface="微软雅黑"/>
                <a:cs typeface="微软雅黑"/>
              </a:rPr>
              <a:t>结论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10698480" cy="4023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600"/>
              </a:spcAft>
            </a:pPr>
            <a:r>
              <a:rPr sz="2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① 不声称新算法/新效应——三次查新确认均为 prior art,主动引用</a:t>
            </a:r>
          </a:p>
          <a:p>
            <a:pPr algn="l">
              <a:spcAft>
                <a:spcPts val="1600"/>
              </a:spcAft>
            </a:pPr>
            <a:r>
              <a:rPr sz="2100" b="1">
                <a:solidFill>
                  <a:srgbClr val="02C39A"/>
                </a:solidFill>
                <a:latin typeface="微软雅黑"/>
                <a:ea typeface="微软雅黑"/>
                <a:cs typeface="微软雅黑"/>
              </a:rPr>
              <a:t>② 贡献 = 可信自动科研方法学 + 真机数据锚定 + 诚实能力边界</a:t>
            </a:r>
          </a:p>
          <a:p>
            <a:pPr algn="l">
              <a:spcAft>
                <a:spcPts val="1600"/>
              </a:spcAft>
            </a:pPr>
            <a:r>
              <a:rPr sz="2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③ 逐个消融证明每道安全机制“承重”:去掉即 overclaim</a:t>
            </a:r>
          </a:p>
          <a:p>
            <a:pPr algn="l">
              <a:spcAft>
                <a:spcPts val="1600"/>
              </a:spcAft>
            </a:pPr>
            <a:r>
              <a:rPr sz="2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④ 价值 = 在该 overclaim 处不 overclaim,并量化能力边界</a:t>
            </a:r>
          </a:p>
          <a:p>
            <a:pPr algn="l">
              <a:spcAft>
                <a:spcPts val="1600"/>
              </a:spcAft>
            </a:pPr>
            <a:r>
              <a:rPr sz="2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⑤ 域相关:有 headroom 显著胜随机、封顶域正确产出 null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参考文献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972800" cy="4389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Romera-Paredes et al. FunSearch. Nature 2023.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Novikov et al. AlphaEvolve. DeepMind 2025.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Ma et al. Eureka. ICLR 2024. arXiv:2310.12931.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Beel, Kan &amp; Baumgart. AI Scientist 独立评估. ACM SIGIR Forum 2025. arXiv:2502.14297.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Michel et al. Energy-Optimal Waypoint UAV Missions. 2024. arXiv:2410.17585.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Nguyen &amp; Au. Extending drone delivery reachable set. AAMAS 2017.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Karl et al. Position: Embracing Negative Results in ML. ICML 2024.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Rodrigues et al. DJI M100 energy dataset. Scientific Data 2021.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Di Franco &amp; Buttazzo 2015;Liu 2017;EcoFlight 2025.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附录 A:操作包络相图(能量感知何时有用)</a:t>
            </a:r>
          </a:p>
        </p:txBody>
      </p:sp>
      <p:pic>
        <p:nvPicPr>
          <p:cNvPr id="4" name="Picture 3" descr="phas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165" y="1737360"/>
            <a:ext cx="9521190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高速+窄障省 22%,低速/宽障归零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附录 B:安全机制消融(评测器抗 gaming)</a:t>
            </a:r>
          </a:p>
        </p:txBody>
      </p:sp>
      <p:pic>
        <p:nvPicPr>
          <p:cNvPr id="4" name="Picture 3" descr="safeguard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506599"/>
            <a:ext cx="10698480" cy="294208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过拟合探针刷不动;查新门降级 2/3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附录 C:动力学实飞功率剖面</a:t>
            </a:r>
          </a:p>
        </p:txBody>
      </p:sp>
      <p:pic>
        <p:nvPicPr>
          <p:cNvPr id="4" name="Picture 3" descr="sim_f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573464"/>
            <a:ext cx="10698480" cy="280835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翻墙爬升段飙 870W,绕行平稳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附录 D:PX4 真飞控轨迹(俯视/侧视)</a:t>
            </a:r>
          </a:p>
        </p:txBody>
      </p:sp>
      <p:pic>
        <p:nvPicPr>
          <p:cNvPr id="4" name="Picture 3" descr="px4_tra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27626"/>
            <a:ext cx="10698480" cy="37000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翻矮楼 A + 绕高楼 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