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面向无人机能耗建模与能量感知路径规划的</a:t>
            </a:r>
          </a:p>
          <a:p>
            <a:pPr algn="l">
              <a:spcAft>
                <a:spcPts val="800"/>
              </a:spcAft>
            </a:pPr>
            <a:r>
              <a:rPr sz="4000" b="1">
                <a:solidFill>
                  <a:srgbClr val="02C39A"/>
                </a:solidFill>
                <a:latin typeface="微软雅黑"/>
                <a:ea typeface="微软雅黑"/>
                <a:cs typeface="微软雅黑"/>
              </a:rPr>
              <a:t>可信大模型自动化科研框架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A Trustworthy LLM-Agent Autoresearch Framework, Instantiated on UAV Energy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Modeling and Energy-Aware Path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硕士学位论文·中期答辩　|　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大模型自动科研正在爆发,但它的“发现”普遍不可信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94960" cy="2926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57%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朴素 AI4S 手稿含错误或幻觉数值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548640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FunSearch/AlphaEvolve/Eureka 在数学、代码、RL 上确有新发现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但都要求“精确可验证评测器”——作者自认局限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朴素流程会过度声称(AI Scientist 独立评估):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B83A3A"/>
                </a:solidFill>
                <a:latin typeface="微软雅黑"/>
                <a:ea typeface="微软雅黑"/>
                <a:cs typeface="微软雅黑"/>
              </a:rPr>
              <a:t>    42% 实验编码错误失败、57% 手稿含幻觉数值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B83A3A"/>
                </a:solidFill>
                <a:latin typeface="微软雅黑"/>
                <a:ea typeface="微软雅黑"/>
                <a:cs typeface="微软雅黑"/>
              </a:rPr>
              <a:t>    把已发表 prior art 误判为“新颖”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来源:Beel, Kan &amp; Baumgart, ACM SIGIR Forum 2025(arXiv:2502.14297)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2C39A"/>
                </a:solidFill>
                <a:latin typeface="微软雅黑"/>
                <a:ea typeface="微软雅黑"/>
                <a:cs typeface="微软雅黑"/>
              </a:rPr>
              <a:t>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2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在一个真实、含噪、无干净真值的工程域(无人机能耗与规划),</a:t>
            </a:r>
          </a:p>
          <a:p>
            <a:pPr algn="l">
              <a:spcAft>
                <a:spcPts val="1400"/>
              </a:spcAft>
            </a:pPr>
            <a:r>
              <a:rPr sz="2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可信的自动科研框架能“得到什么”、又该“诚实承认什么”?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核心主张:贡献不是新算法或新发现(均为 prior art),而是方法学 + 真机数据锚定 + 诚实能力边界。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整体框架:六个环节一环扣一环,贡献落在“过程”而非“发现”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0972800" cy="658368"/>
          </a:xfrm>
          <a:prstGeom prst="rect">
            <a:avLst/>
          </a:prstGeom>
          <a:solidFill>
            <a:srgbClr val="EEF4F7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48256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① 数据与评测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048256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8090"/>
                </a:solidFill>
                <a:latin typeface="微软雅黑"/>
                <a:ea typeface="微软雅黑"/>
                <a:cs typeface="微软雅黑"/>
              </a:rPr>
              <a:t>地基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048256"/>
            <a:ext cx="5577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真机功率 P=V·I 当尺子,冻结+留出防作弊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0972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79776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② 自动科研框架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779776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8090"/>
                </a:solidFill>
                <a:latin typeface="微软雅黑"/>
                <a:ea typeface="微软雅黑"/>
                <a:cs typeface="微软雅黑"/>
              </a:rPr>
              <a:t>过程(真贡献)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779776"/>
            <a:ext cx="5577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只改模型、撞瓶颈触发外搜、诚实 keep/revert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10972800" cy="658368"/>
          </a:xfrm>
          <a:prstGeom prst="rect">
            <a:avLst/>
          </a:prstGeom>
          <a:solidFill>
            <a:srgbClr val="EEF4F7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11296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③ 能耗模型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511296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8090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11296"/>
            <a:ext cx="5577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9 项物理特征线性拟合(base 全是别人的)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10972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42816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④ 能量感知规划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242816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8090"/>
                </a:solidFill>
                <a:latin typeface="微软雅黑"/>
                <a:ea typeface="微软雅黑"/>
                <a:cs typeface="微软雅黑"/>
              </a:rPr>
              <a:t>应用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242816"/>
            <a:ext cx="5577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模型当边权插进 A*,改变翻越/绕行决策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10972800" cy="658368"/>
          </a:xfrm>
          <a:prstGeom prst="rect">
            <a:avLst/>
          </a:prstGeom>
          <a:solidFill>
            <a:srgbClr val="EEF4F7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974336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⑤ 动力学与真飞控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974336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8090"/>
                </a:solidFill>
                <a:latin typeface="微软雅黑"/>
                <a:ea typeface="微软雅黑"/>
                <a:cs typeface="微软雅黑"/>
              </a:rPr>
              <a:t>验证层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974336"/>
            <a:ext cx="5577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RotorPy→PX4 真固件,结论过动力学仍成立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577840"/>
            <a:ext cx="10972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05856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⑥ 统计与防守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705856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8090"/>
                </a:solidFill>
                <a:latin typeface="微软雅黑"/>
                <a:ea typeface="微软雅黑"/>
                <a:cs typeface="微软雅黑"/>
              </a:rPr>
              <a:t>能力边界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5705856"/>
            <a:ext cx="5577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两域显著性+噪声地板,证明 null 是域性质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我们把“可信性”工程化为五道相互独立的安全机制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02920" cy="50292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47672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冻结评测器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84248"/>
            <a:ext cx="7040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锚定真机功率 P=V·|I|,按航班留出,永不可编辑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07208"/>
            <a:ext cx="502920" cy="5029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keep / revert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25496"/>
            <a:ext cx="7040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仅当搜索降且留出不显著退才接受,防过拟合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48456"/>
            <a:ext cx="502920" cy="50292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3016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强制查新门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66744"/>
            <a:ext cx="7040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任何“发现”须先过文献查新,否则降级为复现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89704"/>
            <a:ext cx="502920" cy="5029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471416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因果消融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07992"/>
            <a:ext cx="7040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挖掉关键项验证机制归因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30952"/>
            <a:ext cx="502920" cy="50292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12664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交叉模型 + 诚实报负结果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49240"/>
            <a:ext cx="7040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暴露评测循环性,系统记录失败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过程即贡献:loop 撞瓶颈→触发外搜→改向→诚实记录(真实迭代)</a:t>
            </a:r>
          </a:p>
        </p:txBody>
      </p:sp>
      <p:pic>
        <p:nvPicPr>
          <p:cNvPr id="5" name="Picture 4" descr="loop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985" y="1783080"/>
            <a:ext cx="711147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920240"/>
            <a:ext cx="301752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价值不在最终模型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(prior art),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在这套过程: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卡 4.24% → 查文献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wind 试→REVERT 记库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物理≈线性→诚实报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loop≈随机→报边界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真实 agent_log.jsonl + KNOWLEDGE.md;下半为 loop 机制流程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能耗模型自动迭代把留出误差从 6.88% 降到 1.86%——但这不是重点</a:t>
            </a:r>
          </a:p>
        </p:txBody>
      </p:sp>
      <p:pic>
        <p:nvPicPr>
          <p:cNvPr id="5" name="Picture 4" descr="fi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55861"/>
            <a:ext cx="6949440" cy="2352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920240"/>
            <a:ext cx="402336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冻结评测器 + LLM 每轮改一次 featurize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iter1–10 全程留出验证 + keep/revert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相对提升约 73%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B83A3A"/>
                </a:solidFill>
                <a:latin typeface="微软雅黑"/>
                <a:ea typeface="微软雅黑"/>
                <a:cs typeface="微软雅黑"/>
              </a:rPr>
              <a:t>· 但——结构搜索与随机搜索打平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  (见能力边界)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冻结评测器 m100_eval.py;数据:真实 DJI M100(209 航班)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真机验证的能耗代价改变规划决策:避开真实存在的爬升能耗</a:t>
            </a:r>
          </a:p>
        </p:txBody>
      </p:sp>
      <p:pic>
        <p:nvPicPr>
          <p:cNvPr id="5" name="Picture 4" descr="hero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38864"/>
            <a:ext cx="7772400" cy="2088832"/>
          </a:xfrm>
          <a:prstGeom prst="rect">
            <a:avLst/>
          </a:prstGeom>
        </p:spPr>
      </p:pic>
      <p:pic>
        <p:nvPicPr>
          <p:cNvPr id="6" name="Picture 5" descr="video_corrido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15" y="5029200"/>
            <a:ext cx="330009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920240"/>
            <a:ext cx="329184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距离/教科书BEMT → 翻墙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2C39A"/>
                </a:solidFill>
                <a:latin typeface="微软雅黑"/>
                <a:ea typeface="微软雅黑"/>
                <a:cs typeface="微软雅黑"/>
              </a:rPr>
              <a:t>· 真机M100 → 绕行,省 5–13%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机制三重验证: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留出爬升 +114W vs 预测 +108W(&lt;5%)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因果消融:挖爬升项→退回翻墙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下方 GIF:城市走廊逐障碍混合决策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效应属 prior art(EcoFlight 2025);区别 = 真机验证代价 + 可信评测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结论过 RotorPy 动力学与 PX4 真飞控固件栈仍成立(省 14.3%)</a:t>
            </a:r>
          </a:p>
        </p:txBody>
      </p:sp>
      <p:pic>
        <p:nvPicPr>
          <p:cNvPr id="5" name="Picture 4" descr="px4_ab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27148"/>
            <a:ext cx="7680960" cy="2112264"/>
          </a:xfrm>
          <a:prstGeom prst="rect">
            <a:avLst/>
          </a:prstGeom>
        </p:spPr>
      </p:pic>
      <p:pic>
        <p:nvPicPr>
          <p:cNvPr id="6" name="Picture 5" descr="px4_fligh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680" y="5029200"/>
            <a:ext cx="3169039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920240"/>
            <a:ext cx="338328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证据链层层加固: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折线预测 4–22%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RotorPy 动力学 6.1%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· PX4 真飞控栈 14.3%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(EKF + 位置环 + Gazebo 动力学)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下方 GIF:PX4 真飞控飞出的轨迹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PX4 SITL + Gazebo Harmonic;同固件栈同脚本 A/B 对比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但这些“效应”经三次文献查新,全部是已发表的 prior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72800" cy="658368"/>
          </a:xfrm>
          <a:prstGeom prst="rect">
            <a:avLst/>
          </a:prstGeom>
          <a:solidFill>
            <a:srgbClr val="EEF4F7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6035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能量感知规划改变路径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130552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EcoFlight (2025)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10972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6035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配送顺序因爬降不对称翻转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862072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Michel et al. 2024, arXiv 2410.17585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10972800" cy="658368"/>
          </a:xfrm>
          <a:prstGeom prst="rect">
            <a:avLst/>
          </a:prstGeom>
          <a:solidFill>
            <a:srgbClr val="EEF4F7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93592"/>
            <a:ext cx="6035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电池约束下可达集扩大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593592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Nguyen &amp; Au, AAMAS 2017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10972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25112"/>
            <a:ext cx="6035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载荷影响爬升 vs 绕行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325112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EcoFlight / 物流 UAV, Drones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10972800" cy="658368"/>
          </a:xfrm>
          <a:prstGeom prst="rect">
            <a:avLst/>
          </a:prstGeom>
          <a:solidFill>
            <a:srgbClr val="EEF4F7"/>
          </a:solidFill>
          <a:ln w="6350">
            <a:solidFill>
              <a:srgbClr val="DD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56632"/>
            <a:ext cx="6035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M100 能耗建模 / v* / 爬降不对称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056632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Dai;Di Franco 2015;Liu 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83A3A"/>
                </a:solidFill>
                <a:latin typeface="微软雅黑"/>
                <a:ea typeface="微软雅黑"/>
                <a:cs typeface="微软雅黑"/>
              </a:rPr>
              <a:t>→ 我们主动引用、不声称首创。查新门拦住了把“复现”当“发现”。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框架每个节点都“承重”:去掉它,loop 就退化或自欺</a:t>
            </a:r>
          </a:p>
        </p:txBody>
      </p:sp>
      <p:pic>
        <p:nvPicPr>
          <p:cNvPr id="5" name="Picture 4" descr="framework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0163"/>
            <a:ext cx="6583680" cy="34235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828800"/>
            <a:ext cx="457200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消融每个节点 → 去掉会怎样: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评测器→只报训练误差:探针可刷分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B83A3A"/>
                </a:solidFill>
                <a:latin typeface="微软雅黑"/>
                <a:ea typeface="微软雅黑"/>
                <a:cs typeface="微软雅黑"/>
              </a:rPr>
              <a:t>· 外搜→只搜物理形:困 4.2% 盆地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查新门→H1/H3 当发现(实为 prior art)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因果消融→证不了爬升是唯一因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交叉模型→循环(BEMT尺下反贵)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报负结果→漏 loop≈随机/载荷死路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左图:只搜物理形困局部最优,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外搜识别加线性payload才突破1.9%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framework_ablation.py / safeguard_ablation.py(每节点一个可复现消融)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性能被数据噪声封顶:52 项模型也压不下 6 项——不是方法不足</a:t>
            </a:r>
          </a:p>
        </p:txBody>
      </p:sp>
      <p:pic>
        <p:nvPicPr>
          <p:cNvPr id="5" name="Picture 4" descr="domain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81943"/>
            <a:ext cx="786384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920240"/>
            <a:ext cx="32004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held-out 6 项即触底 1.88%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加到 12/20/52 项不降反升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02C39A"/>
                </a:solidFill>
                <a:latin typeface="微软雅黑"/>
                <a:ea typeface="微软雅黑"/>
                <a:cs typeface="微软雅黑"/>
              </a:rPr>
              <a:t>· 4 种方法殊途同归 ~1.9%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运动学只解释 &lt;40% 瞬时功率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“数据封顶”从主张变测量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domain_value.py;对标 Tseng 多项式(数据集既定最优)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同框架:有改进空间的域显著胜随机,噪声封顶的域统计打平</a:t>
            </a:r>
          </a:p>
        </p:txBody>
      </p:sp>
      <p:pic>
        <p:nvPicPr>
          <p:cNvPr id="5" name="Picture 4" descr="significanc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16870"/>
            <a:ext cx="5623560" cy="2841377"/>
          </a:xfrm>
          <a:prstGeom prst="rect">
            <a:avLst/>
          </a:prstGeom>
        </p:spPr>
      </p:pic>
      <p:pic>
        <p:nvPicPr>
          <p:cNvPr id="6" name="Picture 5" descr="planner_signific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717" y="4846320"/>
            <a:ext cx="3438525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920240"/>
            <a:ext cx="548640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能耗域(封顶):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  loop 1.86% vs 随机 1.87±0.03,z=−0.35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  52% 随机更好 → 统计打平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规划器域(有 headroom):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02C39A"/>
                </a:solidFill>
                <a:latin typeface="微软雅黑"/>
                <a:ea typeface="微软雅黑"/>
                <a:cs typeface="微软雅黑"/>
              </a:rPr>
              <a:t>  loop 显著低于随机,z=−2.38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  0% 随机更好 → 显著胜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→ null 由域性质决定,非框架失败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significance_test.py / planner_significance.py(随机分布 + z 检验)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用 vs 不用:朴素 AI4S 声称 4 项假发现且藏负结果,我们相反</a:t>
            </a:r>
          </a:p>
        </p:txBody>
      </p:sp>
      <p:pic>
        <p:nvPicPr>
          <p:cNvPr id="5" name="Picture 4" descr="naive_vs_trustwort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6234"/>
            <a:ext cx="8412480" cy="30284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2011680"/>
            <a:ext cx="265176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B83A3A"/>
                </a:solidFill>
                <a:latin typeface="微软雅黑"/>
                <a:ea typeface="微软雅黑"/>
                <a:cs typeface="微软雅黑"/>
              </a:rPr>
              <a:t>朴素: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4 假发现 + 0 负结果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02C39A"/>
                </a:solidFill>
                <a:latin typeface="微软雅黑"/>
                <a:ea typeface="微软雅黑"/>
                <a:cs typeface="微软雅黑"/>
              </a:rPr>
              <a:t>我们: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0 真新 + 4 负结果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一个自信但错,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一个 humbler 但对。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naive_vs_trustworthy.py(同数据同候选,端到端产出对照)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诚实边界:多数场景无收益,载荷无效,贡献是方法学而非发现</a:t>
            </a:r>
          </a:p>
        </p:txBody>
      </p:sp>
      <p:pic>
        <p:nvPicPr>
          <p:cNvPr id="5" name="Picture 4" descr="large_scale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0232"/>
            <a:ext cx="6949440" cy="35519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920240"/>
            <a:ext cx="4114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n=250 场景:中位省能 0%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77% 场景零收益(有低空走廊)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仅 20% ≥3%,CI[15.5,25.4]%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载荷 ≤500g:全扫不改变路径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· 无真机飞行(止于仿真)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→ 不挑场景、不硬凑,诚实统计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large_scale_savings.py;可信 null 是被接受的贡献(ICML 2024)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2C39A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9848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600"/>
              </a:spcAft>
            </a:pPr>
            <a:r>
              <a: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不声称新算法/新效应——三次查新确认均为 prior art,主动引用</a:t>
            </a:r>
          </a:p>
          <a:p>
            <a:pPr algn="l">
              <a:spcAft>
                <a:spcPts val="1600"/>
              </a:spcAft>
            </a:pPr>
            <a:r>
              <a:rPr sz="2100" b="1">
                <a:solidFill>
                  <a:srgbClr val="02C39A"/>
                </a:solidFill>
                <a:latin typeface="微软雅黑"/>
                <a:ea typeface="微软雅黑"/>
                <a:cs typeface="微软雅黑"/>
              </a:rPr>
              <a:t>② 贡献 = 可信自动科研方法学 + 真机数据锚定 + 诚实能力边界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逐个消融证明每道节点“承重”:去掉即退化/overclaim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价值 = 在该 overclaim 处不 overclaim,并量化能力边界</a:t>
            </a:r>
          </a:p>
          <a:p>
            <a:pPr algn="l">
              <a:spcAft>
                <a:spcPts val="1600"/>
              </a:spcAft>
            </a:pPr>
            <a:r>
              <a:rPr sz="2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 域相关:有 headroom 显著胜随机、封顶域正确产出 null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457200" cy="457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97280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Romera-Paredes et al. FunSearch. Nature 2023.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Novikov et al. AlphaEvolve. DeepMind 2025.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Ma et al. Eureka. ICLR 2024. arXiv:2310.12931.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Beel, Kan &amp; Baumgart. AI Scientist 独立评估. ACM SIGIR Forum 2025. arXiv:2502.14297.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Michel et al. Energy-Optimal Waypoint UAV Missions. 2024. arXiv:2410.17585.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Nguyen &amp; Au. Extending drone delivery reachable set. AAMAS 2017.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Karl et al. Position: Embracing Negative Results in ML. ICML 2024.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Rodrigues et al. DJI M100 energy dataset. Scientific Data 2021.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3"/>
                </a:solidFill>
                <a:latin typeface="微软雅黑"/>
                <a:ea typeface="微软雅黑"/>
                <a:cs typeface="微软雅黑"/>
              </a:rPr>
              <a:t>Di Franco &amp; Buttazzo 2015;Liu 2017;EcoFlight 2025.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附录 A:翻越/绕行能量权衡分解</a:t>
            </a:r>
          </a:p>
        </p:txBody>
      </p:sp>
      <p:pic>
        <p:nvPicPr>
          <p:cNvPr id="4" name="Picture 3" descr="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093" y="1737360"/>
            <a:ext cx="8297333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翻越=固定爬升罚+少走距离,绕行=无爬升+多走距离,交叉≈半宽24m=相图边界物理解释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附录 B:操作包络相图</a:t>
            </a:r>
          </a:p>
        </p:txBody>
      </p:sp>
      <p:pic>
        <p:nvPicPr>
          <p:cNvPr id="4" name="Picture 3" descr="ph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165" y="1737360"/>
            <a:ext cx="952119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高速+窄障省 22%,低速/宽障归零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附录 C:安全机制消融(评测器抗 gaming)</a:t>
            </a:r>
          </a:p>
        </p:txBody>
      </p:sp>
      <p:pic>
        <p:nvPicPr>
          <p:cNvPr id="4" name="Picture 3" descr="safeguard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06599"/>
            <a:ext cx="10698480" cy="29420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过拟合探针刷不动;查新门降级 2/3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附录 D:动力学实飞功率剖面</a:t>
            </a:r>
          </a:p>
        </p:txBody>
      </p:sp>
      <p:pic>
        <p:nvPicPr>
          <p:cNvPr id="4" name="Picture 3" descr="sim_f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73464"/>
            <a:ext cx="10698480" cy="28083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翻墙爬升段飙 870W,绕行平稳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47472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65A82"/>
                </a:solidFill>
                <a:latin typeface="微软雅黑"/>
                <a:ea typeface="微软雅黑"/>
                <a:cs typeface="微软雅黑"/>
              </a:rPr>
              <a:t>附录 E:PX4 真飞控轨迹(俯视/侧视)</a:t>
            </a:r>
          </a:p>
        </p:txBody>
      </p:sp>
      <p:pic>
        <p:nvPicPr>
          <p:cNvPr id="4" name="Picture 3" descr="px4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27626"/>
            <a:ext cx="10698480" cy="3700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  <a:cs typeface="微软雅黑"/>
              </a:rPr>
              <a:t>翻矮楼 A + 绕高楼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